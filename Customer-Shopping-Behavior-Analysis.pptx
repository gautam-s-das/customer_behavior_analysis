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"/>
      <p:regular r:id="rId17"/>
    </p:embeddedFont>
    <p:embeddedFont>
      <p:font typeface="Alexandria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Uncovering insights from 3,900 purchases to drive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4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5208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37422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Transactions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61520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13742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Features tracked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61520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13742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Geographic coverage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61520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25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13742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Items purchased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Data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563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 &amp; location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0056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Subscription status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4478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Purchase history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Transaction Details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99521" y="5563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 categories &amp; pricing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9521" y="60056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Discounts &amp; promotions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99521" y="64478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Shipping &amp; ratings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76757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Preparation in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38507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dataset, checked structure with df.info() and summary statistics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31876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37 missing Review Rating values using median by category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28689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age_group bins and purchase_frequency_days columns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Consistency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Standardized columns to snake_case, dropped redundant promo_code_used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2969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Connected to PostgreSQL and loaded cleaned data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04034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81A44"/>
          </a:solidFill>
          <a:ln/>
        </p:spPr>
      </p:sp>
      <p:sp>
        <p:nvSpPr>
          <p:cNvPr id="5" name="Text 2"/>
          <p:cNvSpPr/>
          <p:nvPr/>
        </p:nvSpPr>
        <p:spPr>
          <a:xfrm>
            <a:off x="3991808" y="6541651"/>
            <a:ext cx="5279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55EE4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816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68% of total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more than double female customer spending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959096" y="4355663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$233,081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690" y="597932"/>
            <a:ext cx="7148513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High-Value Discount Users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1518047" y="3124676"/>
            <a:ext cx="2673429" cy="543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839</a:t>
            </a:r>
            <a:endParaRPr lang="en-US" sz="4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677" y="1766173"/>
            <a:ext cx="3260408" cy="3260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6378" y="5298162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Smart Shoppers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0690" y="5768102"/>
            <a:ext cx="4188500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using discounts while spending above average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78247" y="3124676"/>
            <a:ext cx="2673429" cy="543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22%</a:t>
            </a:r>
            <a:endParaRPr lang="en-US" sz="4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877" y="1766173"/>
            <a:ext cx="3260408" cy="32604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6578" y="5298162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Share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220891" y="5768102"/>
            <a:ext cx="4188500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Percentage of total customer base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0438567" y="3124676"/>
            <a:ext cx="2673429" cy="543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$60</a:t>
            </a:r>
            <a:endParaRPr lang="en-US" sz="4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197" y="1766173"/>
            <a:ext cx="3260408" cy="32604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6897" y="5298162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Avg Purchase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9681091" y="5768102"/>
            <a:ext cx="41886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Above-average spend despite discounts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60690" y="6708100"/>
            <a:ext cx="13109019" cy="923568"/>
          </a:xfrm>
          <a:prstGeom prst="roundRect">
            <a:avLst>
              <a:gd name="adj" fmla="val 9885"/>
            </a:avLst>
          </a:prstGeom>
          <a:solidFill>
            <a:srgbClr val="BBCDF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79" y="7018139"/>
            <a:ext cx="271701" cy="21728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6969" y="6979682"/>
            <a:ext cx="12185452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Insight: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Discounts don't necessarily mean lower revenue—strategic promotions attract high-value customers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384334"/>
            <a:ext cx="5183862" cy="435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 Performance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7680" y="1168003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Top-Rated Products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7680" y="1655683"/>
            <a:ext cx="6175891" cy="174069"/>
          </a:xfrm>
          <a:prstGeom prst="roundRect">
            <a:avLst>
              <a:gd name="adj" fmla="val 3362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1655683"/>
            <a:ext cx="5990511" cy="174069"/>
          </a:xfrm>
          <a:prstGeom prst="roundRect">
            <a:avLst>
              <a:gd name="adj" fmla="val 33622"/>
            </a:avLst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6767989" y="1655683"/>
            <a:ext cx="377309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97%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7680" y="2003822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Gloves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7680" y="2360771"/>
            <a:ext cx="665761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3.86 avg rating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7680" y="2931914"/>
            <a:ext cx="6164937" cy="174069"/>
          </a:xfrm>
          <a:prstGeom prst="roundRect">
            <a:avLst>
              <a:gd name="adj" fmla="val 3362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680" y="2931914"/>
            <a:ext cx="5918240" cy="174069"/>
          </a:xfrm>
          <a:prstGeom prst="roundRect">
            <a:avLst>
              <a:gd name="adj" fmla="val 33622"/>
            </a:avLst>
          </a:prstGeom>
          <a:solidFill>
            <a:srgbClr val="1B54DA"/>
          </a:solidFill>
          <a:ln/>
        </p:spPr>
      </p:sp>
      <p:sp>
        <p:nvSpPr>
          <p:cNvPr id="11" name="Text 9"/>
          <p:cNvSpPr/>
          <p:nvPr/>
        </p:nvSpPr>
        <p:spPr>
          <a:xfrm>
            <a:off x="6757035" y="2931914"/>
            <a:ext cx="388263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96%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7680" y="3280053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Sandals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7680" y="3637002"/>
            <a:ext cx="665761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3.84 avg rating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7680" y="4208145"/>
            <a:ext cx="6167795" cy="174069"/>
          </a:xfrm>
          <a:prstGeom prst="roundRect">
            <a:avLst>
              <a:gd name="adj" fmla="val 3362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680" y="4208145"/>
            <a:ext cx="5859304" cy="174069"/>
          </a:xfrm>
          <a:prstGeom prst="roundRect">
            <a:avLst>
              <a:gd name="adj" fmla="val 33622"/>
            </a:avLst>
          </a:prstGeom>
          <a:solidFill>
            <a:srgbClr val="1B54DA"/>
          </a:solidFill>
          <a:ln/>
        </p:spPr>
      </p:sp>
      <p:sp>
        <p:nvSpPr>
          <p:cNvPr id="16" name="Text 14"/>
          <p:cNvSpPr/>
          <p:nvPr/>
        </p:nvSpPr>
        <p:spPr>
          <a:xfrm>
            <a:off x="6759893" y="4208145"/>
            <a:ext cx="385405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95%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7680" y="4556284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Boots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7680" y="4913233"/>
            <a:ext cx="665761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3.82 avg rating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7680" y="5484376"/>
            <a:ext cx="6167795" cy="174069"/>
          </a:xfrm>
          <a:prstGeom prst="roundRect">
            <a:avLst>
              <a:gd name="adj" fmla="val 3362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" y="5484376"/>
            <a:ext cx="5859304" cy="174069"/>
          </a:xfrm>
          <a:prstGeom prst="roundRect">
            <a:avLst>
              <a:gd name="adj" fmla="val 33622"/>
            </a:avLst>
          </a:prstGeom>
          <a:solidFill>
            <a:srgbClr val="1B54DA"/>
          </a:solidFill>
          <a:ln/>
        </p:spPr>
      </p:sp>
      <p:sp>
        <p:nvSpPr>
          <p:cNvPr id="21" name="Text 19"/>
          <p:cNvSpPr/>
          <p:nvPr/>
        </p:nvSpPr>
        <p:spPr>
          <a:xfrm>
            <a:off x="6759893" y="5484376"/>
            <a:ext cx="385405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95%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7680" y="5832515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Hat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680" y="6189464"/>
            <a:ext cx="665761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3.80 avg rating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7680" y="6760607"/>
            <a:ext cx="6171367" cy="174069"/>
          </a:xfrm>
          <a:prstGeom prst="roundRect">
            <a:avLst>
              <a:gd name="adj" fmla="val 3362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680" y="6760607"/>
            <a:ext cx="5801082" cy="174069"/>
          </a:xfrm>
          <a:prstGeom prst="roundRect">
            <a:avLst>
              <a:gd name="adj" fmla="val 33622"/>
            </a:avLst>
          </a:prstGeom>
          <a:solidFill>
            <a:srgbClr val="1B54D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3464" y="6760607"/>
            <a:ext cx="381833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94%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7680" y="7108746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Skirt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7680" y="7465695"/>
            <a:ext cx="665761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3.78 avg rating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2722" y="1168003"/>
            <a:ext cx="2820114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Discount-Dependent Items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2722" y="1586032"/>
            <a:ext cx="6657618" cy="888921"/>
          </a:xfrm>
          <a:prstGeom prst="roundRect">
            <a:avLst>
              <a:gd name="adj" fmla="val 6584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47265" y="1740575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Hat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647265" y="2097524"/>
            <a:ext cx="634853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50% discount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2722" y="2614255"/>
            <a:ext cx="6657618" cy="888921"/>
          </a:xfrm>
          <a:prstGeom prst="roundRect">
            <a:avLst>
              <a:gd name="adj" fmla="val 6584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7265" y="2768798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Sneakers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647265" y="3125748"/>
            <a:ext cx="634853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49.66% discount rate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92722" y="3642479"/>
            <a:ext cx="6657618" cy="888921"/>
          </a:xfrm>
          <a:prstGeom prst="roundRect">
            <a:avLst>
              <a:gd name="adj" fmla="val 6584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47265" y="3797022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Coat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647265" y="4153972"/>
            <a:ext cx="634853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49.07% discount rate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92722" y="4670703"/>
            <a:ext cx="6657618" cy="888921"/>
          </a:xfrm>
          <a:prstGeom prst="roundRect">
            <a:avLst>
              <a:gd name="adj" fmla="val 6584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47265" y="4825246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Sweater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647265" y="5182195"/>
            <a:ext cx="634853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48.17% discount rate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92722" y="5698927"/>
            <a:ext cx="6657618" cy="888921"/>
          </a:xfrm>
          <a:prstGeom prst="roundRect">
            <a:avLst>
              <a:gd name="adj" fmla="val 6584"/>
            </a:avLst>
          </a:prstGeom>
          <a:solidFill>
            <a:srgbClr val="F9F9FF"/>
          </a:solidFill>
          <a:ln w="15240">
            <a:solidFill>
              <a:srgbClr val="B8C3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7265" y="5853470"/>
            <a:ext cx="1741765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Pants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647265" y="6210419"/>
            <a:ext cx="634853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47.37% discount rate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692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Segmentation Analysis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387" y="892969"/>
            <a:ext cx="2283023" cy="653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76186" y="1200864"/>
            <a:ext cx="15942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110758" y="1006316"/>
            <a:ext cx="73128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110758" y="1251466"/>
            <a:ext cx="73128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83 customers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5747" y="1556623"/>
            <a:ext cx="9179481" cy="7620"/>
          </a:xfrm>
          <a:prstGeom prst="roundRect">
            <a:avLst>
              <a:gd name="adj" fmla="val 625116"/>
            </a:avLst>
          </a:prstGeom>
          <a:solidFill>
            <a:srgbClr val="B8C3D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35" y="1574602"/>
            <a:ext cx="4566047" cy="653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76186" y="1801535"/>
            <a:ext cx="15942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252329" y="1687949"/>
            <a:ext cx="77747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Returning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52329" y="1933099"/>
            <a:ext cx="77747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701 customers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167318" y="2238256"/>
            <a:ext cx="8037909" cy="7620"/>
          </a:xfrm>
          <a:prstGeom prst="roundRect">
            <a:avLst>
              <a:gd name="adj" fmla="val 625116"/>
            </a:avLst>
          </a:prstGeom>
          <a:solidFill>
            <a:srgbClr val="B8C3D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63" y="2256234"/>
            <a:ext cx="6849070" cy="6532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76186" y="2483168"/>
            <a:ext cx="15942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93781" y="2369582"/>
            <a:ext cx="84224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393781" y="2614732"/>
            <a:ext cx="84224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3,116 customers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96835" y="3037046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of customers are loyal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representing strong retention and repeat purchase behavior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396835" y="3459361"/>
            <a:ext cx="214848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Repeat Buyers &amp; Subscriptions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6835" y="37498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with &gt;5 purchases: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96835" y="4033361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958 are subscribers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96835" y="425446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2,518 are non-subscribers</a:t>
            </a:r>
            <a:endParaRPr lang="en-US" sz="8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171" y="3473529"/>
            <a:ext cx="6780014" cy="6780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673" y="335994"/>
            <a:ext cx="5145405" cy="381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Subscription vs. Non-Subscription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673" y="962144"/>
            <a:ext cx="13775055" cy="73472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79726" y="8309372"/>
            <a:ext cx="122158" cy="122158"/>
          </a:xfrm>
          <a:prstGeom prst="roundRect">
            <a:avLst>
              <a:gd name="adj" fmla="val 14971"/>
            </a:avLst>
          </a:prstGeom>
          <a:solidFill>
            <a:srgbClr val="081A44"/>
          </a:solidFill>
          <a:ln/>
        </p:spPr>
      </p:sp>
      <p:sp>
        <p:nvSpPr>
          <p:cNvPr id="5" name="Text 2"/>
          <p:cNvSpPr/>
          <p:nvPr/>
        </p:nvSpPr>
        <p:spPr>
          <a:xfrm>
            <a:off x="6562844" y="8309372"/>
            <a:ext cx="676156" cy="122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Subscribers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91400" y="8309372"/>
            <a:ext cx="122158" cy="122158"/>
          </a:xfrm>
          <a:prstGeom prst="roundRect">
            <a:avLst>
              <a:gd name="adj" fmla="val 14971"/>
            </a:avLst>
          </a:prstGeom>
          <a:solidFill>
            <a:srgbClr val="1646B6"/>
          </a:solidFill>
          <a:ln/>
        </p:spPr>
      </p:sp>
      <p:sp>
        <p:nvSpPr>
          <p:cNvPr id="7" name="Text 4"/>
          <p:cNvSpPr/>
          <p:nvPr/>
        </p:nvSpPr>
        <p:spPr>
          <a:xfrm>
            <a:off x="7574518" y="8309372"/>
            <a:ext cx="978456" cy="122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Non-Subscribers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7673" y="8813483"/>
            <a:ext cx="4510207" cy="719018"/>
          </a:xfrm>
          <a:prstGeom prst="roundRect">
            <a:avLst>
              <a:gd name="adj" fmla="val 713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451" y="8943261"/>
            <a:ext cx="1527691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1,053 Subscribers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451" y="9207341"/>
            <a:ext cx="4250650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27% of customer base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60037" y="8813483"/>
            <a:ext cx="4510207" cy="719018"/>
          </a:xfrm>
          <a:prstGeom prst="roundRect">
            <a:avLst>
              <a:gd name="adj" fmla="val 713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89815" y="8943261"/>
            <a:ext cx="1696879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2,847 Non-Subscribers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89815" y="9207341"/>
            <a:ext cx="4250650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73% of customer base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92402" y="8813483"/>
            <a:ext cx="4510326" cy="719018"/>
          </a:xfrm>
          <a:prstGeom prst="roundRect">
            <a:avLst>
              <a:gd name="adj" fmla="val 713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22180" y="8943261"/>
            <a:ext cx="1527691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Similar Spend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22180" y="9207341"/>
            <a:ext cx="4250769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Minimal difference in average purchase amount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7673" y="9669899"/>
            <a:ext cx="13775055" cy="518993"/>
          </a:xfrm>
          <a:prstGeom prst="roundRect">
            <a:avLst>
              <a:gd name="adj" fmla="val 9890"/>
            </a:avLst>
          </a:prstGeom>
          <a:solidFill>
            <a:srgbClr val="BBCDF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31" y="9845159"/>
            <a:ext cx="152757" cy="12215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4746" y="9822537"/>
            <a:ext cx="13255823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Opportunity: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Non-subscribers generate more total revenue—converting them could significantly boost subscription revenue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7626"/>
            <a:ext cx="64238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1718"/>
            <a:ext cx="6924437" cy="3877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79249" y="2283381"/>
            <a:ext cx="30097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Shipping Preferences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279249" y="2892862"/>
            <a:ext cx="5564862" cy="1458635"/>
          </a:xfrm>
          <a:prstGeom prst="roundRect">
            <a:avLst>
              <a:gd name="adj" fmla="val 10030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48769" y="2892862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7" name="Text 4"/>
          <p:cNvSpPr/>
          <p:nvPr/>
        </p:nvSpPr>
        <p:spPr>
          <a:xfrm>
            <a:off x="8627983" y="3150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Standard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27983" y="3731300"/>
            <a:ext cx="49588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$58.46 avg purchase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279249" y="4578310"/>
            <a:ext cx="5564862" cy="1458635"/>
          </a:xfrm>
          <a:prstGeom prst="roundRect">
            <a:avLst>
              <a:gd name="adj" fmla="val 10030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48769" y="4578310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1" name="Text 8"/>
          <p:cNvSpPr/>
          <p:nvPr/>
        </p:nvSpPr>
        <p:spPr>
          <a:xfrm>
            <a:off x="8627983" y="48356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Express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27983" y="5416748"/>
            <a:ext cx="49588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$60.48 avg purchase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279249" y="6292096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Express shipping users spend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3.5% more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 average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390"/>
            <a:ext cx="8089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0879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23027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50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benefits to convert high-value non-subscribers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180879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23027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2950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 strengthen the 80% loyal customer base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180879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23027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2950488"/>
            <a:ext cx="3256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promotional sales with margin control on discount-dependent products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Highlight top-rated items like Gloves and Sandals in marketing campaigns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Young Adults and express-shipping users for maximum ROI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2025-11-09T08:20:48Z</dcterms:created>
  <dcterms:modified xsi:type="dcterms:W3CDTF">2025-11-09T08:20:48Z</dcterms:modified>
</cp:coreProperties>
</file>